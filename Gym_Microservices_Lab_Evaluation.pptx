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13716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Build, Deploy and Analyze a Containerized</a:t>
            </a:r>
            <a:br/>
            <a:r>
              <a:t>Microservice Application Under Varying Workloads</a:t>
            </a:r>
          </a:p>
          <a:p>
            <a:pPr>
              <a:spcBef>
                <a:spcPts val="2000"/>
              </a:spcBef>
              <a:defRPr sz="2200">
                <a:solidFill>
                  <a:srgbClr val="93C5FD"/>
                </a:solidFill>
              </a:defRPr>
            </a:pPr>
            <a:r>
              <a:t>Gym Management Microservices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</a:defRPr>
            </a:pPr>
            <a:r>
              <a:t>Cloud Computing Lab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Presented by: Student Team   |   KLE Technological University, BVB Campus, Hubli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Aim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To build a microservice application with three independent services, containerize and deploy it with Docker and Docker Compose, generate varying workloads, monitor resource use, and analyze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4688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Develop</a:t>
            </a:r>
          </a:p>
          <a:p>
            <a:pPr>
              <a:spcBef>
                <a:spcPts val="1200"/>
              </a:spcBef>
              <a:defRPr sz="1300">
                <a:solidFill>
                  <a:srgbClr val="1F2937"/>
                </a:solidFill>
              </a:defRPr>
            </a:pPr>
            <a:r>
              <a:t>Three independent FastAPI microservices with REST APIs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94560"/>
            <a:ext cx="24688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Containerize</a:t>
            </a:r>
          </a:p>
          <a:p>
            <a:pPr>
              <a:spcBef>
                <a:spcPts val="1200"/>
              </a:spcBef>
              <a:defRPr sz="1300">
                <a:solidFill>
                  <a:srgbClr val="1F2937"/>
                </a:solidFill>
              </a:defRPr>
            </a:pPr>
            <a:r>
              <a:t>One Dockerfile and one Docker image per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24688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Deploy</a:t>
            </a:r>
          </a:p>
          <a:p>
            <a:pPr>
              <a:spcBef>
                <a:spcPts val="1200"/>
              </a:spcBef>
              <a:defRPr sz="1300">
                <a:solidFill>
                  <a:srgbClr val="1F2937"/>
                </a:solidFill>
              </a:defRPr>
            </a:pPr>
            <a:r>
              <a:t>Docker Compose runs all three containers on one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24688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219456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3774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Analyze</a:t>
            </a:r>
          </a:p>
          <a:p>
            <a:pPr>
              <a:spcBef>
                <a:spcPts val="1200"/>
              </a:spcBef>
              <a:defRPr sz="1300">
                <a:solidFill>
                  <a:srgbClr val="1F2937"/>
                </a:solidFill>
              </a:defRPr>
            </a:pPr>
            <a:r>
              <a:t>Load test at 1, 2, 4, 8, 16 concurrent requests and monitor CPU and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9688"/>
                </a:solidFill>
              </a:defRPr>
            </a:pPr>
            <a:r>
              <a:t>Core challenge: moving from one monolith to independent, networked containers while finding the performance bottleneck.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and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Backend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Python 3.11 + 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Web server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Uvicorn (ASGI worker)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Containerization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Docker 29.8.0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Orchestration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Docker Compose v5.5.1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749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749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Load testing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Python thread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7490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749040"/>
            <a:ext cx="109728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Test machine</a:t>
            </a:r>
          </a:p>
          <a:p>
            <a:pPr>
              <a:spcBef>
                <a:spcPts val="1400"/>
              </a:spcBef>
              <a:defRPr sz="1800" b="1">
                <a:solidFill>
                  <a:srgbClr val="1F2937"/>
                </a:solidFill>
              </a:defRPr>
            </a:pPr>
            <a:r>
              <a:t>macOS, 6 CPUs, 3.8 GB for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2651760" cy="7315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Client</a:t>
            </a:r>
          </a:p>
          <a:p>
            <a:pPr algn="ctr">
              <a:defRPr sz="1100">
                <a:solidFill>
                  <a:srgbClr val="E2E8F0"/>
                </a:solidFill>
              </a:defRPr>
            </a:pPr>
            <a:r>
              <a:t>curl / load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468880"/>
            <a:ext cx="7589520" cy="3657600"/>
          </a:xfrm>
          <a:prstGeom prst="rect">
            <a:avLst/>
          </a:prstGeom>
          <a:solidFill>
            <a:srgbClr val="F0FD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Docker network: gym-network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3931920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attendance-service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Port 8003 (entry 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846320"/>
            <a:ext cx="310896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member-service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Port 8001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310896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membership-service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Port 8002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Microservices and REST API Endpoints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4114800"/>
                <a:gridCol w="3200400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233D"/>
                          </a:solidFill>
                        </a:defRPr>
                      </a:pPr>
                      <a:r>
                        <a:t>attendance-service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Entry point. Performs check-in by calling member and membership services.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 /</a:t>
                      </a:r>
                      <a:br/>
                      <a:r>
                        <a:t>POST /attendance/checkin</a:t>
                      </a:r>
                      <a:br/>
                      <a:r>
                        <a:t>POST /attendance/checkout/{id}</a:t>
                      </a:r>
                      <a:br/>
                      <a:r>
                        <a:t>GET /attendance/{member_id}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233D"/>
                          </a:solidFill>
                        </a:defRPr>
                      </a:pPr>
                      <a:r>
                        <a:t>member-service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Stores and returns gym member profile records.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 /</a:t>
                      </a:r>
                      <a:br/>
                      <a:r>
                        <a:t>GET /members</a:t>
                      </a:r>
                      <a:br/>
                      <a:r>
                        <a:t>POST /members</a:t>
                      </a:r>
                      <a:br/>
                      <a:r>
                        <a:t>GET /members/{id}</a:t>
                      </a:r>
                      <a:br/>
                      <a:r>
                        <a:t>PUT /members/{id}</a:t>
                      </a:r>
                      <a:br/>
                      <a:r>
                        <a:t>DELETE /members/{id}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233D"/>
                          </a:solidFill>
                        </a:defRPr>
                      </a:pPr>
                      <a:r>
                        <a:t>membership-service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Stores membership plan tiers and validity status.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 /</a:t>
                      </a:r>
                      <a:br/>
                      <a:r>
                        <a:t>GET /memberships</a:t>
                      </a:r>
                      <a:br/>
                      <a:r>
                        <a:t>POST /memberships</a:t>
                      </a:r>
                      <a:br/>
                      <a:r>
                        <a:t>GET /memberships/{member_id}</a:t>
                      </a:r>
                      <a:br/>
                      <a:r>
                        <a:t>PUT /memberships/{member_id}</a:t>
                      </a:r>
                      <a:br/>
                      <a:r>
                        <a:t>DELETE /memberships/{member_id}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Checkpoint 1: Develop the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1600">
                <a:solidFill>
                  <a:srgbClr val="1F2937"/>
                </a:solidFill>
              </a:defRPr>
            </a:pPr>
            <a:r>
              <a:t>•   Domain: Gym Management System</a:t>
            </a:r>
          </a:p>
          <a:p>
            <a:pPr>
              <a:spcBef>
                <a:spcPts val="1800"/>
              </a:spcBef>
              <a:defRPr sz="1600">
                <a:solidFill>
                  <a:srgbClr val="1F2937"/>
                </a:solidFill>
              </a:defRPr>
            </a:pPr>
            <a:r>
              <a:t>•   Three services, each in its own folder with its own main.py</a:t>
            </a:r>
          </a:p>
          <a:p>
            <a:pPr>
              <a:spcBef>
                <a:spcPts val="1800"/>
              </a:spcBef>
              <a:defRPr sz="1600">
                <a:solidFill>
                  <a:srgbClr val="1F2937"/>
                </a:solidFill>
              </a:defRPr>
            </a:pPr>
            <a:r>
              <a:t>•   Built with Python and FastAPI</a:t>
            </a:r>
          </a:p>
          <a:p>
            <a:pPr>
              <a:spcBef>
                <a:spcPts val="1800"/>
              </a:spcBef>
              <a:defRPr sz="1600">
                <a:solidFill>
                  <a:srgbClr val="1F2937"/>
                </a:solidFill>
              </a:defRPr>
            </a:pPr>
            <a:r>
              <a:t>•   Each service run and tested independently first</a:t>
            </a:r>
          </a:p>
          <a:p>
            <a:pPr>
              <a:spcBef>
                <a:spcPts val="1800"/>
              </a:spcBef>
              <a:defRPr sz="1600">
                <a:solidFill>
                  <a:srgbClr val="1F2937"/>
                </a:solidFill>
              </a:defRPr>
            </a:pPr>
            <a:r>
              <a:t>•   All APIs returned the expected 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from fastapi import FastAPI, HTTPException</a:t>
            </a:r>
            <a:br/>
            <a:r>
              <a:t>from .database import Base, engine, SessionLocal</a:t>
            </a:r>
            <a:br/>
            <a:r>
              <a:t>from .models import Member</a:t>
            </a:r>
            <a:br/>
            <a:br/>
            <a:r>
              <a:t>app = FastAPI(title="Gym Member Service")</a:t>
            </a:r>
            <a:br/>
            <a:br/>
            <a:r>
              <a:t>Base.metadata.create_all(bind=engine)</a:t>
            </a:r>
            <a:br/>
            <a:br/>
            <a:r>
              <a:t>@app.get("/members/{member_id}")</a:t>
            </a:r>
            <a:br/>
            <a:r>
              <a:t>def get_member(member_id: int):</a:t>
            </a:r>
            <a:br/>
            <a:r>
              <a:t>    db = SessionLocal()</a:t>
            </a:r>
            <a:br/>
            <a:r>
              <a:t>    member = db.query(Member).filter(</a:t>
            </a:r>
            <a:br/>
            <a:r>
              <a:t>        Member.id == member_id</a:t>
            </a:r>
            <a:br/>
            <a:r>
              <a:t>    ).first()</a:t>
            </a:r>
            <a:br/>
            <a:r>
              <a:t>    db.close()</a:t>
            </a:r>
            <a:br/>
            <a:r>
              <a:t>    if not member:</a:t>
            </a:r>
            <a:br/>
            <a:r>
              <a:t>        raise HTTPException(status_code=404, </a:t>
            </a:r>
            <a:br/>
            <a:r>
              <a:t>                            detail="Member not found")</a:t>
            </a:r>
            <a:br/>
            <a:r>
              <a:t>    return {"id": member.id, "name": member.name}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Checkpoint 2: Containerize and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3291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Dockerfile (one per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FROM python:3.11-slim</a:t>
            </a:r>
            <a:br/>
            <a:r>
              <a:t>WORKDIR /app</a:t>
            </a:r>
            <a:br/>
            <a:r>
              <a:t>COPY requirements.txt .</a:t>
            </a:r>
            <a:br/>
            <a:r>
              <a:t>RUN pip install --no-cache-dir -r requirements.txt</a:t>
            </a:r>
            <a:br/>
            <a:r>
              <a:t>COPY app ./app</a:t>
            </a:r>
            <a:br/>
            <a:r>
              <a:t>EXPOSE 8000</a:t>
            </a:r>
            <a:br/>
            <a:r>
              <a:t>CMD ["uvicorn", "app.main:app", </a:t>
            </a:r>
            <a:br/>
            <a:r>
              <a:t>     "--host", "0.0.0.0", "--port", "8000"]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212080" cy="3291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docker-compose.yml (attendance-service)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attendance-service:</a:t>
            </a:r>
            <a:br/>
            <a:r>
              <a:t>  build: ./attendance-service</a:t>
            </a:r>
            <a:br/>
            <a:r>
              <a:t>  ports: ["8003:8000"]</a:t>
            </a:r>
            <a:br/>
            <a:r>
              <a:t>  environment:</a:t>
            </a:r>
            <a:br/>
            <a:r>
              <a:t>    - MEMBER_SERVICE_URL=http://member-service:8000</a:t>
            </a:r>
            <a:br/>
            <a:r>
              <a:t>    - MEMBERSHIP_SERVICE_URL=http://membership-service:8000</a:t>
            </a:r>
            <a:br/>
            <a:r>
              <a:t>  networks: [gym-network]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  <a:defRPr sz="1300">
                <a:solidFill>
                  <a:srgbClr val="1F2937"/>
                </a:solidFill>
              </a:defRPr>
            </a:pPr>
            <a:r>
              <a:t>•   Three images built: verified with docker images</a:t>
            </a:r>
          </a:p>
          <a:p>
            <a:pPr>
              <a:spcBef>
                <a:spcPts val="300"/>
              </a:spcBef>
              <a:defRPr sz="1300">
                <a:solidFill>
                  <a:srgbClr val="1F2937"/>
                </a:solidFill>
              </a:defRPr>
            </a:pPr>
            <a:r>
              <a:t>•   One command deploys all: docker compose up --build -d</a:t>
            </a:r>
          </a:p>
          <a:p>
            <a:pPr>
              <a:spcBef>
                <a:spcPts val="300"/>
              </a:spcBef>
              <a:defRPr sz="1300">
                <a:solidFill>
                  <a:srgbClr val="1F2937"/>
                </a:solidFill>
              </a:defRPr>
            </a:pPr>
            <a:r>
              <a:t>•   Three containers running: verified with docker 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Checkpoint 3: Inter-Service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Docker DNS, not localhost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Inside a container, localhost means that container itself. Services reach each other by service name on gym-network.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5120640" cy="164592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MEMBER_SERVICE_URL=http://member-service:8000</a:t>
            </a:r>
            <a:br/>
            <a:r>
              <a:t>MEMBERSHIP_SERVICE_URL=http://membership-service:8000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33D"/>
                </a:solidFill>
              </a:defRPr>
            </a:pPr>
            <a:r>
              <a:t>End-to-end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212080" cy="429768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$ curl -X POST http://localhost:8003/attendance/checkin?member_id=1</a:t>
            </a:r>
            <a:br/>
            <a:br/>
            <a:r>
              <a:t>{</a:t>
            </a:r>
            <a:br/>
            <a:r>
              <a:t>  "message": "Check-in successful",</a:t>
            </a:r>
            <a:br/>
            <a:r>
              <a:t>  "attendance_id": 1,</a:t>
            </a:r>
            <a:br/>
            <a:r>
              <a:t>  "member_id": 1,</a:t>
            </a:r>
            <a:br/>
            <a:r>
              <a:t>  "member_name": "Alice Smith",</a:t>
            </a:r>
            <a:br/>
            <a:r>
              <a:t>  "membership_plan": "VIP_GOLD",</a:t>
            </a:r>
            <a:br/>
            <a:r>
              <a:t>  "membership_status": "ACTIVE",</a:t>
            </a:r>
            <a:br/>
            <a:r>
              <a:t>  "status": "PRESENT",</a:t>
            </a:r>
            <a:br/>
            <a:r>
              <a:t>  "check_in": "2026-10-08 00:20:00"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Checkpoint 4: Workload Generation and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Target API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POST /attendance/checkin?member_id=1</a:t>
            </a:r>
            <a:br/>
            <a:r>
              <a:t>Touches all three microservices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10972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Load generator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Python ThreadPoolExecutor / Async benchmark</a:t>
            </a:r>
            <a:br/>
            <a:r>
              <a:t>30 to 80 requests per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972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Workload levels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W1 = 1    W2 = 2    W3 = 4</a:t>
            </a:r>
            <a:br/>
            <a:r>
              <a:t>W4 = 8    W5 = 16</a:t>
            </a:r>
            <a:br/>
            <a:r>
              <a:t>concurrent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10972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023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233D"/>
                </a:solidFill>
              </a:defRPr>
            </a:pPr>
            <a:r>
              <a:t>Monitoring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docker stats sampled during every level; average CPU % and memory MB per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9688"/>
                </a:solidFill>
              </a:defRPr>
            </a:pPr>
            <a:r>
              <a:t>Recorded for every level: average response time, throughput, failed requests, CPU % and memory MB for all three containers.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Observation Table (measured values)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1097280"/>
                <a:gridCol w="822960"/>
                <a:gridCol w="822960"/>
                <a:gridCol w="822960"/>
                <a:gridCol w="822960"/>
                <a:gridCol w="1097280"/>
                <a:gridCol w="1097280"/>
                <a:gridCol w="11887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Avg resp (ms)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Throughput (req/s)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CPU % Att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CPU % Mem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CPU % MS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Mem MB Att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Mem MB Mem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Mem MB MS</a:t>
                      </a:r>
                    </a:p>
                  </a:txBody>
                  <a:tcPr>
                    <a:solidFill>
                      <a:srgbClr val="1723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98.38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33D"/>
                          </a:solidFill>
                        </a:defRPr>
                      </a:pPr>
                      <a:r>
                        <a:t>60.94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126.71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33D"/>
                          </a:solidFill>
                        </a:defRPr>
                      </a:pPr>
                      <a:r>
                        <a:t>66.38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27.40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33D"/>
                          </a:solidFill>
                        </a:defRPr>
                      </a:pPr>
                      <a:r>
                        <a:t>67.85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142.29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33D"/>
                          </a:solidFill>
                        </a:defRPr>
                      </a:pPr>
                      <a:r>
                        <a:t>85.40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53.18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150.50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33D"/>
                          </a:solidFill>
                        </a:defRPr>
                      </a:pPr>
                      <a:r>
                        <a:t>90.53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  0 failed requests at every level</a:t>
            </a:r>
          </a:p>
          <a:p>
            <a:pPr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  Attendance service (highlighted) uses the most memory (~90 MB); memory stays flat at about 50 to 90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Graphs</a:t>
            </a:r>
          </a:p>
        </p:txBody>
      </p:sp>
      <p:pic>
        <p:nvPicPr>
          <p:cNvPr id="6" name="Picture 5" descr="chart_response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377440"/>
          </a:xfrm>
          <a:prstGeom prst="rect">
            <a:avLst/>
          </a:prstGeom>
        </p:spPr>
      </p:pic>
      <p:pic>
        <p:nvPicPr>
          <p:cNvPr id="7" name="Picture 6" descr="chart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377440"/>
          </a:xfrm>
          <a:prstGeom prst="rect">
            <a:avLst/>
          </a:prstGeom>
        </p:spPr>
      </p:pic>
      <p:pic>
        <p:nvPicPr>
          <p:cNvPr id="8" name="Picture 7" descr="chart_cpu_ut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212080" cy="2377440"/>
          </a:xfrm>
          <a:prstGeom prst="rect">
            <a:avLst/>
          </a:prstGeom>
        </p:spPr>
      </p:pic>
      <p:pic>
        <p:nvPicPr>
          <p:cNvPr id="9" name="Picture 8" descr="chart_memory_utiliz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21208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and Evaluation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4663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233D"/>
                </a:solidFill>
              </a:defRPr>
            </a:pPr>
            <a:r>
              <a:t>Summary of Completed Checkpoints</a:t>
            </a:r>
          </a:p>
          <a:p>
            <a:pPr>
              <a:spcBef>
                <a:spcPts val="1400"/>
              </a:spcBef>
              <a:defRPr sz="1400">
                <a:solidFill>
                  <a:srgbClr val="1F2937"/>
                </a:solidFill>
              </a:defRPr>
            </a:pPr>
            <a:r>
              <a:t>✔ Checkpoint 1 PASSED: Designed and implemented 3 independent microservices (Member, Membership, Attendance).</a:t>
            </a:r>
          </a:p>
          <a:p>
            <a:pPr>
              <a:spcBef>
                <a:spcPts val="1400"/>
              </a:spcBef>
              <a:defRPr sz="1400">
                <a:solidFill>
                  <a:srgbClr val="1F2937"/>
                </a:solidFill>
              </a:defRPr>
            </a:pPr>
            <a:r>
              <a:t>✔ Checkpoint 2 PASSED: Containerized each service with Dockerfiles and deployed via Docker Compose.</a:t>
            </a:r>
          </a:p>
          <a:p>
            <a:pPr>
              <a:spcBef>
                <a:spcPts val="1400"/>
              </a:spcBef>
              <a:defRPr sz="1400">
                <a:solidFill>
                  <a:srgbClr val="1F2937"/>
                </a:solidFill>
              </a:defRPr>
            </a:pPr>
            <a:r>
              <a:t>✔ Checkpoint 3 PASSED: Verified inter-service REST communication over container DNS bridge network.</a:t>
            </a:r>
          </a:p>
          <a:p>
            <a:pPr>
              <a:spcBef>
                <a:spcPts val="1400"/>
              </a:spcBef>
              <a:defRPr sz="1400">
                <a:solidFill>
                  <a:srgbClr val="1F2937"/>
                </a:solidFill>
              </a:defRPr>
            </a:pPr>
            <a:r>
              <a:t>✔ Checkpoint 4 PASSED: Executed workload testing across 5 concurrency levels (W1 - W5).</a:t>
            </a:r>
          </a:p>
          <a:p>
            <a:pPr>
              <a:spcBef>
                <a:spcPts val="1400"/>
              </a:spcBef>
              <a:defRPr sz="1400">
                <a:solidFill>
                  <a:srgbClr val="1F2937"/>
                </a:solidFill>
              </a:defRPr>
            </a:pPr>
            <a:r>
              <a:t>✔ Checkpoint 5 PASSED: Analyzed performance measurements, generated visual charts, and verified 0% error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Gym Management Microservices | Cloud Computing Lab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